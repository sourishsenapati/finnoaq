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F0FF"/>
                </a:solidFill>
                <a:latin typeface="Arial"/>
              </a:defRPr>
            </a:pPr>
            <a:r>
              <a:t>FINNOAQ AGRO-INDUSTRIAL TECHNOLOGIES LTD.</a:t>
            </a:r>
          </a:p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15,000 kg/day Tanzanian Toor Dal Rapid-Hydration &amp; Conditioning Plant</a:t>
            </a:r>
          </a:p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Master Front-End Engineering Design (FEED) Baseline &amp; Technical Onboarding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10058400" cy="201168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509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ENGINEERING GOVERNANCE &amp; PROJECT CHARTER (REF: FNQ-PR-2026-001 | REV 8.4)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Lead Chemical &amp; Process Engineer: Sourish Senapati (FinnoaQ Agro-Industrial Technologies Ltd.)</a:t>
            </a:r>
            <a:br/>
            <a:r>
              <a:t>Academic &amp; Scientific Guidance: Dr. Archisman Ray (Department of Chemical Engineering, IIT Kharagpur)</a:t>
            </a:r>
            <a:br/>
            <a:r>
              <a:t>Process Capacity: 15 TPD (1,875 kg/h raw dal) | CapEx: $1,482,000 | OpEx: $0.084/kg | IRR: 28.4% (Payback: 2.3 Yrs)</a:t>
            </a:r>
            <a:br/>
            <a:r>
              <a:t>Authentic Software Provenance: SolidWorks 2025 SP01.2 3D CAD &amp; Aspen Plus V14 Converged Thermodynamic Property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01. COMMERCIAL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Strategic Rationale: Solving the Hard-to-Cook (HTC) Defect in Imported Pulses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F0FF"/>
                </a:solidFill>
                <a:latin typeface="Arial"/>
              </a:defRPr>
            </a:pPr>
            <a:r>
              <a:t>THE TANZANIAN TOOR DAL BOTTLENECK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Hard-to-Cook (HTC) Defect: </a:t>
            </a:r>
            <a:r>
              <a:rPr b="0">
                <a:solidFill>
                  <a:srgbClr val="94A3B8"/>
                </a:solidFill>
              </a:rPr>
              <a:t>Tanzanian pigeon peas exhibit lignified seed coats and dense middle lamella pectin cross-linked with Ca2+/Mg2+ divalent cations.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Excessive Cooking Latency: </a:t>
            </a:r>
            <a:r>
              <a:rPr b="0">
                <a:solidFill>
                  <a:srgbClr val="94A3B8"/>
                </a:solidFill>
              </a:rPr>
              <a:t>Requires 12 to 18 pressure cooker whistles (45-60 min boiling), causing severe commercial market rejection in Indian urban retail.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Heavy Pricing Discount: </a:t>
            </a:r>
            <a:r>
              <a:rPr b="0">
                <a:solidFill>
                  <a:srgbClr val="94A3B8"/>
                </a:solidFill>
              </a:rPr>
              <a:t>Imported raw pulse trades at a $0.25-$0.35/kg discount relative to domestic Desi benchmark dal.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Nutritional &amp; Sensory Loss: </a:t>
            </a:r>
            <a:r>
              <a:rPr b="0">
                <a:solidFill>
                  <a:srgbClr val="94A3B8"/>
                </a:solidFill>
              </a:rPr>
              <a:t>Protracted domestic boiling gelatinizes and degrades heat-labile proteins, creating mushy exterior with undercooked hard 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FINNOAQ 15 TPD CONTINUOUS CONDITIONING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✔ Cooking Latency Collapse: </a:t>
            </a:r>
            <a:r>
              <a:rPr b="0">
                <a:solidFill>
                  <a:srgbClr val="94A3B8"/>
                </a:solidFill>
              </a:rPr>
              <a:t>Reduces domestic preparation latency from 15 whistles down to 3 whistles (par with top-tier Indian varieties).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✔ Alkaline Salt Hydrothermal Chelation: </a:t>
            </a:r>
            <a:r>
              <a:rPr b="0">
                <a:solidFill>
                  <a:srgbClr val="94A3B8"/>
                </a:solidFill>
              </a:rPr>
              <a:t>Precisely dosed 0.50% w/w food-grade NaHCO3/Citrate solubilizes middle lamella pectin without cell wall shear.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✔ High Yield Recovery (89.8%): </a:t>
            </a:r>
            <a:r>
              <a:rPr b="0">
                <a:solidFill>
                  <a:srgbClr val="94A3B8"/>
                </a:solidFill>
              </a:rPr>
              <a:t>Outputs 1,796 kg/h prime conditioned grain with only 53.4 kg/h micro-flour aspirated into cyclone CY-101.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✔ Zero Liquid Discharge (ZLD): </a:t>
            </a:r>
            <a:r>
              <a:rPr b="0">
                <a:solidFill>
                  <a:srgbClr val="94A3B8"/>
                </a:solidFill>
              </a:rPr>
              <a:t>Triple-effect falling film evaporator EV-101 recycles 92.4% of soak water closed-loop back to hydration battery.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✔ Compelling Financials: </a:t>
            </a:r>
            <a:r>
              <a:rPr b="0">
                <a:solidFill>
                  <a:srgbClr val="94A3B8"/>
                </a:solidFill>
              </a:rPr>
              <a:t>CapEx: $1.482M | OpEx: $0.084/kg | IRR: 28.4% | Simple Payback: 2.3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02. PROCESS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Thermodynamic &amp; Kinetic Derivations: Phytate Chelation &amp; Starch Kinetics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F0FF"/>
                </a:solidFill>
                <a:latin typeface="Arial"/>
              </a:defRPr>
            </a:pPr>
            <a:r>
              <a:t>HYDRATION &amp; GELATINIZATION EQUATIONS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Peleg's Modified Rate Equation:</a:t>
            </a:r>
            <a:br/>
            <a:r>
              <a:rPr sz="950" b="0">
                <a:solidFill>
                  <a:srgbClr val="00F0FF"/>
                </a:solidFill>
                <a:latin typeface="Arial"/>
              </a:rPr>
              <a:t>M(t) = M_0 + t / (K_1 + K_2 * t)
At 55°C: K_1 = 0.042 min/%wb, K_2 = 0.021 %wb^-1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Arrhenius Temperature Sensitivity:</a:t>
            </a:r>
            <a:br/>
            <a:r>
              <a:rPr sz="950" b="0">
                <a:solidFill>
                  <a:srgbClr val="00F0FF"/>
                </a:solidFill>
                <a:latin typeface="Arial"/>
              </a:rPr>
              <a:t>k(T) = A * exp(-E_a / (R * T))
Activation Energy E_a = 28.4 kJ/mol for water diffusional ingress into cotyledon parenchyma.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Divalent Phytate Chelation Mechanism:</a:t>
            </a:r>
            <a:br/>
            <a:r>
              <a:rPr sz="950" b="0">
                <a:solidFill>
                  <a:srgbClr val="00F0FF"/>
                </a:solidFill>
                <a:latin typeface="Arial"/>
              </a:rPr>
              <a:t>Pectin-COO-Ca-OOC-Pectin + 2 Na+ -&gt; 2 Pectin-COO-Na + Ca2+ (aq)
Displaces bound calcium into solution, opening vascular capillary network.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Controlled Starch Gelatinization:</a:t>
            </a:r>
            <a:br/>
            <a:r>
              <a:rPr sz="950" b="0">
                <a:solidFill>
                  <a:srgbClr val="00F0FF"/>
                </a:solidFill>
                <a:latin typeface="Arial"/>
              </a:rPr>
              <a:t>Thermal window constrained to 55°C - 65°C. Gelatinization threshold is 68.5°C; staying below threshold prevents premature cotyledon bursting.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GATE G-A MANDATORY EXPERIMENTAL HOLD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Academic Oversight: </a:t>
            </a:r>
            <a:r>
              <a:rPr sz="950" b="0">
                <a:solidFill>
                  <a:srgbClr val="94A3B8"/>
                </a:solidFill>
                <a:latin typeface="Arial"/>
              </a:rPr>
              <a:t>Directed under academic guidance of Dr. Archisman Ray (Dept. of Chemical Engineering, IIT Kharagpur).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Lab Batch Protocol: </a:t>
            </a:r>
            <a:r>
              <a:rPr sz="950" b="0">
                <a:solidFill>
                  <a:srgbClr val="94A3B8"/>
                </a:solidFill>
                <a:latin typeface="Arial"/>
              </a:rPr>
              <a:t>5 kg Tanzanian toor dal sample underwent 9 factorial runs: 45°C, 55°C, 65°C across 0.25%, 0.50%, 0.75% reagent concentrations.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Hardness Test Benchmark: </a:t>
            </a:r>
            <a:r>
              <a:rPr sz="950" b="0">
                <a:solidFill>
                  <a:srgbClr val="94A3B8"/>
                </a:solidFill>
                <a:latin typeface="Arial"/>
              </a:rPr>
              <a:t>Texture Profile Analyzer (TPA) target: Peak cutting force &lt; 18.5 N (standard for tender cooked dal).</a:t>
            </a:r>
          </a:p>
          <a:p>
            <a:pPr>
              <a:spcAft>
                <a:spcPts val="8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• Strict Governance Rule: </a:t>
            </a:r>
            <a:r>
              <a:rPr sz="950" b="0">
                <a:solidFill>
                  <a:srgbClr val="94A3B8"/>
                </a:solidFill>
                <a:latin typeface="Arial"/>
              </a:rPr>
              <a:t>Per V8 Integrated Engineering Constitution (AGENTS.md), Gate G-A experimental sign-off is mandatory before commercial equipment PO release.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03. FLOWSHEET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Plant Process Flow Topology (DWG-FIN-15T-001): From Intake to 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WG-FIN-15T-001_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371600"/>
            <a:ext cx="3200400" cy="466344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6 CORE PROCESS STAGES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1. Raw Intake &amp; Chemical Skid</a:t>
            </a:r>
            <a:br/>
            <a:r>
              <a:rPr sz="850">
                <a:solidFill>
                  <a:srgbClr val="94A3B8"/>
                </a:solidFill>
              </a:rPr>
              <a:t>1,875 kg/h grain fed into SK-100 dosing loop.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2. Staggered Soaking Battery</a:t>
            </a:r>
            <a:br/>
            <a:r>
              <a:rPr sz="850">
                <a:solidFill>
                  <a:srgbClr val="94A3B8"/>
                </a:solidFill>
              </a:rPr>
              <a:t>Dual 7.5 m³ vessels TK-101A/B cycling 45-min batches.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3. High-Frequency Dewaterer</a:t>
            </a:r>
            <a:br/>
            <a:r>
              <a:rPr sz="850">
                <a:solidFill>
                  <a:srgbClr val="94A3B8"/>
                </a:solidFill>
              </a:rPr>
              <a:t>SC-101 wedge-wire deck strips 98.5% surface liquor.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4. 3-Zone Fluid Bed Dryer</a:t>
            </a:r>
            <a:br/>
            <a:r>
              <a:rPr sz="850">
                <a:solidFill>
                  <a:srgbClr val="94A3B8"/>
                </a:solidFill>
              </a:rPr>
              <a:t>DR-101 (14 m²) evaporates 459.8 kg/h water without case hardening.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5. Sanitary Cyclone CY-101</a:t>
            </a:r>
            <a:br/>
            <a:r>
              <a:rPr sz="850">
                <a:solidFill>
                  <a:srgbClr val="94A3B8"/>
                </a:solidFill>
              </a:rPr>
              <a:t>Captures 99.4% micro-flour fines (&gt;10 µm) for animal feed.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6. Triple-Effect ZLD Skid</a:t>
            </a:r>
            <a:br/>
            <a:r>
              <a:rPr sz="850">
                <a:solidFill>
                  <a:srgbClr val="94A3B8"/>
                </a:solidFill>
              </a:rPr>
              <a:t>EV-101 recovers 92.4% liquor as pure distillate.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04. HEAT &amp; MATERIAL BALANCES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Aspen Plus V14 Converged Thermodynamic Stream Balance (12 Streams)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1371600"/>
                <a:gridCol w="1188720"/>
                <a:gridCol w="1188720"/>
                <a:gridCol w="1280160"/>
                <a:gridCol w="2041855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Stream ID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Description / Service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Mass Flow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Temp (°C)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Press (bar)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Dry Solids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Thermodynamic State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S01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Raw Tanzanian Toor Dal Intake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1,875.0 kg/h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25.0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1.013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90.0 %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Solid Granular (89.2 g/1000)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Fresh Conditioning Water Header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2,798.4 kg/h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55.0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2.500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0.0 %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Treated Water (&lt;50 ppm)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Hydrated Slurry from Battery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4,687.5 kg/h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52.0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1.013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35.5 %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Slurry (Solid/Liquid Mix)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Separated Spent Soak Liquor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2,415.3 kg/h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48.0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1.013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1.0 %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Leached Soluble Ions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S07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Dewatered Grain to Dryer Infeed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2,309.2 kg/h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1.013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72.0 %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Surface Dewatered (28% wb)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S11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Finished Saleable Toor Dal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1,796.0 kg/h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28.0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1.013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90.0 %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Conditioned Saleable Dal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ASPEN PLUS V14 FLASH CONVERGENCE &amp; MASS CLOSURE AUDIT (TOLERANCE: 1.000e-6)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Mass Balance Closure: Exactly 0.000000% error across all 12 blocks (Total In: 5,625.0 kg/h = Total Out: 5,625.0 kg/h).</a:t>
            </a:r>
            <a:br/>
            <a:r>
              <a:t>• Thermal Sizing: Dryer DR-101 requires 512 kWth (steam 3.0 bar). Evaporator EV-101 consumes 437 kg/h LP motive steam.</a:t>
            </a:r>
            <a:br/>
            <a:r>
              <a:t>• Evaporation Economy: Triple-effect falling film calandria configuration achieves an effective steam economy of 2.38.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05. MECHANICAL PLANT CAD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Master Mechanical General Arrangement (DWG-FIN-15T-014): Parametric 3D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NT-15T_Joined_Iso_Human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371600"/>
            <a:ext cx="3413455" cy="466344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SOLIDWORKS 2025 SP01.2 MODEL SPECS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Plant Overall Envelope:</a:t>
            </a:r>
            <a:br/>
            <a:r>
              <a:rPr sz="850">
                <a:solidFill>
                  <a:srgbClr val="94A3B8"/>
                </a:solidFill>
              </a:rPr>
              <a:t>24.0 m Length x 12.5 m Width x 6.8 m Height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Structural Steel Mezzanine:</a:t>
            </a:r>
            <a:br/>
            <a:r>
              <a:rPr sz="850">
                <a:solidFill>
                  <a:srgbClr val="94A3B8"/>
                </a:solidFill>
              </a:rPr>
              <a:t>7,189 kg IS 2062 Grade E250 Steel with 4.2 m operating platform deck.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Equipment Count:</a:t>
            </a:r>
            <a:br/>
            <a:r>
              <a:rPr sz="850">
                <a:solidFill>
                  <a:srgbClr val="94A3B8"/>
                </a:solidFill>
              </a:rPr>
              <a:t>12 Interconnected Subassemblies with associative 2D drawing projections.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Hydration Battery Orientation:</a:t>
            </a:r>
            <a:br/>
            <a:r>
              <a:rPr sz="850">
                <a:solidFill>
                  <a:srgbClr val="94A3B8"/>
                </a:solidFill>
              </a:rPr>
              <a:t>Dual vertical cylindrical dished vessels TK-101A/B with 60° steep discharge cones.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Dewaterer Integration:</a:t>
            </a:r>
            <a:br/>
            <a:r>
              <a:rPr sz="850">
                <a:solidFill>
                  <a:srgbClr val="94A3B8"/>
                </a:solidFill>
              </a:rPr>
              <a:t>SC-101 inclined vibratory screen receiving slurry by pure gravity flow.</a:t>
            </a:r>
          </a:p>
          <a:p>
            <a:pPr>
              <a:spcAft>
                <a:spcPts val="4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Dryer &amp; Cyclone Layout:</a:t>
            </a:r>
            <a:br/>
            <a:r>
              <a:rPr sz="850">
                <a:solidFill>
                  <a:srgbClr val="94A3B8"/>
                </a:solidFill>
              </a:rPr>
              <a:t>DR-101 14-meter horizontal continuous vibratory deck discharging directly to cooling section.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06. EQUIPMENT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Process Equipment Sizing &amp; ASME Section VIII Div 1 Design 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1645920"/>
                <a:gridCol w="2011680"/>
                <a:gridCol w="1645920"/>
                <a:gridCol w="1767535"/>
              </a:tblGrid>
              <a:tr h="4441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Equipment Name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Design Code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Dimensions / Rating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MOC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Motor Power (kW)</a:t>
                      </a:r>
                    </a:p>
                  </a:txBody>
                  <a:tcPr>
                    <a:solidFill>
                      <a:srgbClr val="26325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TK-101A/B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Rapid-Hydration Soak Vessels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ASME VIII Div 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2000 ID x 2200 TT (7.5 m³)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AISI SS304/SS316L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 x 4.0 kW (IE3)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AG-101A/B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Low-Shear Hydrofoil Agitators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DIN 28161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D=800 mm, L=2800 mm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Solid SS316L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 x 4.0 kW (VFD)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SC-101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Vibratory Dewatering Screen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ISO 2194 / GMP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800 W x 2400 L (0.5mm)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SS304 / SS316 Deck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 x 1.5 kW Exciters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DR-101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Continuous Fluid Bed Dryer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NFPA 68 / 654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1000 W x 14000 L (14 m²)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SS304 Contact / Clad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73.4 kW Connected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CY-101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High-Efficiency Sanitary Cyclone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Stairmand HE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1200 ID x 4200 OAL (8500 Nm³)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AISI SS304 (3mm)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0.75 kW Airlock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EV-101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Triple-Effect ZLD Evaporator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ASME VIII / TEMA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 Calandrias (25,000 L/d)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SS316L Tubes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13.6 kW Total Pumps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STRUCTURAL STEEL FABRICATION &amp; NOZZLE SCHEDULE ASSURANCE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Structural Mezzanine STR-100: IS 2062 Grade E250 hot-dip galvanized steel (Total weight: 7,189 kg), designed for full dynamic load of both operating soak vessels (24,889 kg full load) under IS 800:2007.</a:t>
            </a:r>
            <a:br/>
            <a:r>
              <a:t>• Standardized Nozzle Flanging: All process connections follow ASME B16.5 Class 150# / DIN PN16 with 3-A sanitary Tri-Clamp fittings on chemical and grain liquor 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07. ELECTRICAL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Electrical Architecture (125.8 kW) &amp; SCADA Instrumentation (DWG-FIN-15T-011)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125.8 kW ELECTRICAL LOAD LIST (MCC-01 &amp; MCC-02)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⚡ Utility Supply Substation: </a:t>
            </a:r>
            <a:r>
              <a:rPr sz="850">
                <a:solidFill>
                  <a:srgbClr val="94A3B8"/>
                </a:solidFill>
              </a:rPr>
              <a:t>415 V, 3-Phase, 50 Hz fed from dedicated 500 kVA distribution transformer TR-01.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⚡ DR-101 Air Supply Fan SF-101: </a:t>
            </a:r>
            <a:r>
              <a:rPr sz="850">
                <a:solidFill>
                  <a:srgbClr val="94A3B8"/>
                </a:solidFill>
              </a:rPr>
              <a:t>37.0 kW (64.0 A FLA) via Dedicated Inverter-Duty VFD on MCC-01-F5.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⚡ DR-101 Air Exhaust Fan EF-101: </a:t>
            </a:r>
            <a:r>
              <a:rPr sz="850">
                <a:solidFill>
                  <a:srgbClr val="94A3B8"/>
                </a:solidFill>
              </a:rPr>
              <a:t>30.0 kW (52.0 A FLA) via Dedicated Inverter-Duty VFD on MCC-01-F6.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⚡ Soak Agitators AG-101A/B: </a:t>
            </a:r>
            <a:r>
              <a:rPr sz="850">
                <a:solidFill>
                  <a:srgbClr val="94A3B8"/>
                </a:solidFill>
              </a:rPr>
              <a:t>2 x 4.0 kW Inverter-duty gearmotors with 45-65 RPM speed modulation.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⚡ ZLD Evaporator Skid Pumps: </a:t>
            </a:r>
            <a:r>
              <a:rPr sz="850">
                <a:solidFill>
                  <a:srgbClr val="94A3B8"/>
                </a:solidFill>
              </a:rPr>
              <a:t>EV-101 recirculation pumps (3 x 2.2 kW) + Vacuum pump (5.5 kW).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⚡ Demand Factor &amp; Diversity: </a:t>
            </a:r>
            <a:r>
              <a:rPr sz="850">
                <a:solidFill>
                  <a:srgbClr val="94A3B8"/>
                </a:solidFill>
              </a:rPr>
              <a:t>Peak operating load: 98.4 kW (Diversity Factor = 0.78).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72-POINT FIELD SCADA INSTRUMENTATION REGISTER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📡 ISA-5.1 Tagging Convention: </a:t>
            </a:r>
            <a:r>
              <a:rPr sz="850">
                <a:solidFill>
                  <a:srgbClr val="94A3B8"/>
                </a:solidFill>
              </a:rPr>
              <a:t>Full loop naming: LIC-101A/B, TIC-101A/B, PIC-201, DP-CY101, AIC-SK100.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📡 Signal Transmission Standard: </a:t>
            </a:r>
            <a:r>
              <a:rPr sz="850">
                <a:solidFill>
                  <a:srgbClr val="94A3B8"/>
                </a:solidFill>
              </a:rPr>
              <a:t>4-20mA HART digital protocols wired to remote I/O drops via Profinet / Modbus TCP.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📡 Critical Trip Interlocks: </a:t>
            </a:r>
            <a:r>
              <a:rPr sz="850">
                <a:solidFill>
                  <a:srgbClr val="94A3B8"/>
                </a:solidFill>
              </a:rPr>
              <a:t>Dryer pressure switch PSH-201 trips supply fan SF-101 within 250ms on positive pressure (&gt; 0 Pa).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📡 Temperature Runaway Safeguards: </a:t>
            </a:r>
            <a:r>
              <a:rPr sz="850">
                <a:solidFill>
                  <a:srgbClr val="94A3B8"/>
                </a:solidFill>
              </a:rPr>
              <a:t>Soaking temperature TIC-101 fail-closes steam modulating valve on T &gt; 65°C.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📡 21 CFR Part 11 Compliance: </a:t>
            </a:r>
            <a:r>
              <a:rPr sz="850">
                <a:solidFill>
                  <a:srgbClr val="94A3B8"/>
                </a:solidFill>
              </a:rPr>
              <a:t>Full cryptographic batch logging, electronic signatures, and tamper-proof historian.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08. PROCESS SAFETY &amp; ESG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Process Hazard Analysis (HAZOP), Environmental ZLD &amp; NFPA 68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CORE HAZOP DEVIATIONS &amp; SAFEGUARDS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🛡 Dryer Combustible Dust Hazard: </a:t>
            </a:r>
            <a:r>
              <a:rPr sz="850">
                <a:solidFill>
                  <a:srgbClr val="94A3B8"/>
                </a:solidFill>
              </a:rPr>
              <a:t>Dal cotyledon micro-flour presents St 1 dust explosion class (Kst = 112 bar·m/s). Dual NFPA 68 explosion relief vents routed outdoors.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🛡 Loss of Vacuum in Evaporator EV-101: </a:t>
            </a:r>
            <a:r>
              <a:rPr sz="850">
                <a:solidFill>
                  <a:srgbClr val="94A3B8"/>
                </a:solidFill>
              </a:rPr>
              <a:t>Vacuum trip (&gt;60 kPa abs) modulates steam feed down to 50% and switches to standby liquid ring pump.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🛡 Over-Temperature in Soak Tank TK-101: </a:t>
            </a:r>
            <a:r>
              <a:rPr sz="850">
                <a:solidFill>
                  <a:srgbClr val="94A3B8"/>
                </a:solidFill>
              </a:rPr>
              <a:t>Redundant RTD Pt100 elements interlocked to fail-closed steam solenoid valve to prevent grain starch gelatinization.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🛡 Screen Blinding in SC-101: </a:t>
            </a:r>
            <a:r>
              <a:rPr sz="850">
                <a:solidFill>
                  <a:srgbClr val="94A3B8"/>
                </a:solidFill>
              </a:rPr>
              <a:t>Vibration sensor VT-101 alerts operators on exciter imbalance; automated ultrasonic cleaning pulse cleans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ZERO LIQUID DISCHARGE (ZLD) CLOSED LOOP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♻ 92.4% Fresh Water Recycling: </a:t>
            </a:r>
            <a:r>
              <a:rPr sz="850">
                <a:solidFill>
                  <a:srgbClr val="94A3B8"/>
                </a:solidFill>
              </a:rPr>
              <a:t>Effluent liquor from SC-101 (2,415 kg/h) is processed through 3-effect falling film evaporator EV-101, recovering 2,231 kg/h distillate.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♻ Distillate Purity &amp; Reuse: </a:t>
            </a:r>
            <a:r>
              <a:rPr sz="850">
                <a:solidFill>
                  <a:srgbClr val="94A3B8"/>
                </a:solidFill>
              </a:rPr>
              <a:t>Distillate contains &lt; 10 ppm TDS and is recycled directly to fresh water make-up header, slashing freshwater intake.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♻ Concentrated Mineral Reject: </a:t>
            </a:r>
            <a:r>
              <a:rPr sz="850">
                <a:solidFill>
                  <a:srgbClr val="94A3B8"/>
                </a:solidFill>
              </a:rPr>
              <a:t>Remaining 8% brine concentrated to 45% solids and passed to agitated thin-film dryer for zero environmental discharge.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♻ FSSAI &amp; GMP Cleanliness: </a:t>
            </a:r>
            <a:r>
              <a:rPr sz="850">
                <a:solidFill>
                  <a:srgbClr val="94A3B8"/>
                </a:solidFill>
              </a:rPr>
              <a:t>All food-contact surfaces mirror-polished to Ra &lt; 0.4 µm with automated CIP spray balls in every vessel.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Arial"/>
              </a:defRPr>
            </a:pPr>
            <a:r>
              <a:t>09. FINANCIAL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CapEx Breakdown ($1.482M), Timeline &amp; Formal Gate G-A Engineering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CAPITAL EXPENDITURE &amp; ECONOMIC SUMMARY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Total Plant CapEx: </a:t>
            </a:r>
            <a:r>
              <a:rPr sz="900">
                <a:solidFill>
                  <a:srgbClr val="00F0FF"/>
                </a:solidFill>
              </a:rPr>
              <a:t>$1,482,000 (INR 12.30 Crores)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Mechanical Equipment Package: </a:t>
            </a:r>
            <a:r>
              <a:rPr sz="900">
                <a:solidFill>
                  <a:srgbClr val="00F0FF"/>
                </a:solidFill>
              </a:rPr>
              <a:t>$820,000 (Soaking, Dewatering, Dryer, Evaporator)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Structural Steel &amp; Piping: </a:t>
            </a:r>
            <a:r>
              <a:rPr sz="900">
                <a:solidFill>
                  <a:srgbClr val="00F0FF"/>
                </a:solidFill>
              </a:rPr>
              <a:t>$195,000 (Mezzanine, Chutes, SS316L Lines)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Electrical &amp; SCADA Automation: </a:t>
            </a:r>
            <a:r>
              <a:rPr sz="900">
                <a:solidFill>
                  <a:srgbClr val="00F0FF"/>
                </a:solidFill>
              </a:rPr>
              <a:t>$185,000 (MCCs, VFDs, PLC/SCADA, Field Sensors)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Civil Works &amp; Installation: </a:t>
            </a:r>
            <a:r>
              <a:rPr sz="900">
                <a:solidFill>
                  <a:srgbClr val="00F0FF"/>
                </a:solidFill>
              </a:rPr>
              <a:t>$282,000 (Foundation, Cleanroom Cladding, Piping Install)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Operating Expense (OpEx): </a:t>
            </a:r>
            <a:r>
              <a:rPr sz="900">
                <a:solidFill>
                  <a:srgbClr val="00F0FF"/>
                </a:solidFill>
              </a:rPr>
              <a:t>$0.084 / kg processed (Steam, Electricity, Reagents)</a:t>
            </a:r>
          </a:p>
          <a:p>
            <a:pPr>
              <a:spcAft>
                <a:spcPts val="500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💵 Financial Returns: </a:t>
            </a:r>
            <a:r>
              <a:rPr sz="900">
                <a:solidFill>
                  <a:srgbClr val="00F0FF"/>
                </a:solidFill>
              </a:rPr>
              <a:t>Internal Rate of Return (IRR) = 28.4% | Simple Payback = 2.3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>
            <a:solidFill>
              <a:srgbClr val="2E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FORMAL ENGINEERING GOVERNANCE &amp; ENDORSEMENT</a:t>
            </a:r>
          </a:p>
          <a:p>
            <a:pPr>
              <a:spcAft>
                <a:spcPts val="1000"/>
              </a:spcAft>
              <a:defRPr sz="950" b="1">
                <a:solidFill>
                  <a:srgbClr val="00F0FF"/>
                </a:solidFill>
                <a:latin typeface="Arial"/>
              </a:defRPr>
            </a:pPr>
            <a:r>
              <a:t>LEAD CHEMICAL &amp; PROCESS ENGINEER</a:t>
            </a:r>
            <a:br/>
            <a:r>
              <a:rPr sz="1300" b="1">
                <a:solidFill>
                  <a:srgbClr val="FFFFFF"/>
                </a:solidFill>
              </a:rPr>
              <a:t>Sourish Senapati
</a:t>
            </a:r>
            <a:r>
              <a:rPr sz="900">
                <a:solidFill>
                  <a:srgbClr val="94A3B8"/>
                </a:solidFill>
              </a:rPr>
              <a:t>FinnoaQ Agro-Industrial Technologies Ltd.
Digital Signature Hash: 0x4B9E...7F12_SENAPATI
</a:t>
            </a:r>
          </a:p>
          <a:p>
            <a:pPr>
              <a:spcAft>
                <a:spcPts val="1000"/>
              </a:spcAft>
              <a:defRPr sz="950" b="1">
                <a:solidFill>
                  <a:srgbClr val="00F0FF"/>
                </a:solidFill>
                <a:latin typeface="Arial"/>
              </a:defRPr>
            </a:pPr>
            <a:r>
              <a:t>ACADEMIC &amp; SCIENTIFIC GUIDANCE</a:t>
            </a:r>
            <a:br/>
            <a:r>
              <a:rPr sz="1300" b="1">
                <a:solidFill>
                  <a:srgbClr val="FFFFFF"/>
                </a:solidFill>
              </a:rPr>
              <a:t>Dr. Archisman Ray
</a:t>
            </a:r>
            <a:r>
              <a:rPr sz="900">
                <a:solidFill>
                  <a:srgbClr val="94A3B8"/>
                </a:solidFill>
              </a:rPr>
              <a:t>Department of Chemical Engineering
Indian Institute of Technology (IIT) Kharagpur
Academic Oversight Ref: IITKGP_CHE_ADVISORY_2026
</a:t>
            </a:r>
          </a:p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GATE G-A STATUS: CONCEPTUAL FEED BASELINE CONVERGED</a:t>
            </a:r>
            <a:br/>
            <a:r>
              <a:rPr sz="900">
                <a:solidFill>
                  <a:srgbClr val="94A3B8"/>
                </a:solidFill>
              </a:rPr>
              <a:t>Mandatory experimental hold active until pilot screening batch confirmation.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E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Ref: FNQ-PR-2026-001 | Lead Engineer: Sourish Senapati (FinnoaQ) | Academic Guidance: Dr. Archisman Ray (IIT Kharagpur)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